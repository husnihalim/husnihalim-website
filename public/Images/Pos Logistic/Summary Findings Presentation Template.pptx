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047" r:id="rId3"/>
    <p:sldId id="2058" r:id="rId4"/>
    <p:sldId id="2048" r:id="rId5"/>
    <p:sldId id="2052" r:id="rId6"/>
    <p:sldId id="20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D58D0B-68D2-46FB-837A-5562E7F712CC}" v="60" dt="2026-01-28T08:36:17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5" autoAdjust="0"/>
    <p:restoredTop sz="94653"/>
  </p:normalViewPr>
  <p:slideViewPr>
    <p:cSldViewPr snapToGrid="0" showGuides="1">
      <p:cViewPr varScale="1">
        <p:scale>
          <a:sx n="113" d="100"/>
          <a:sy n="113" d="100"/>
        </p:scale>
        <p:origin x="46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482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503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6477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9628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221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5C21-B576-4A53-8283-7E8A81CF1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90FAF-D987-4B45-BA15-02BCA5D7E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26EE8-0EFC-406A-A400-B427D184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6263-66E7-4794-BD22-92E88D4BE40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3BB5-3EF0-4405-8063-C0C543EB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4E3A2-4F04-442E-895E-87F30A5B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2C40-A216-4022-A4A1-DAD95010D4DB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Pos Logistics Berhad Company Overview &amp; Details - Maukerja">
            <a:extLst>
              <a:ext uri="{FF2B5EF4-FFF2-40B4-BE49-F238E27FC236}">
                <a16:creationId xmlns:a16="http://schemas.microsoft.com/office/drawing/2014/main" id="{C58AACD3-0185-6C86-B6DD-88E192F4A2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54" y="136525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819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475B0E6-ADB9-DE5D-881F-05A51B34C8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5" y="99350"/>
            <a:ext cx="12026989" cy="6659300"/>
          </a:xfrm>
          <a:prstGeom prst="rect">
            <a:avLst/>
          </a:prstGeom>
        </p:spPr>
      </p:pic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82505" y="1826619"/>
            <a:ext cx="8968085" cy="1660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977" y="1970250"/>
            <a:ext cx="8144134" cy="1373070"/>
          </a:xfrm>
        </p:spPr>
        <p:txBody>
          <a:bodyPr anchor="b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Pos Logistics Berhad Company Overview &amp; Details - Maukerja">
            <a:extLst>
              <a:ext uri="{FF2B5EF4-FFF2-40B4-BE49-F238E27FC236}">
                <a16:creationId xmlns:a16="http://schemas.microsoft.com/office/drawing/2014/main" id="{6442B433-08F0-6E71-606C-0276978F3B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54" y="136525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64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>
            <a:spLocks noChangeAspect="1"/>
          </p:cNvSpPr>
          <p:nvPr userDrawn="1"/>
        </p:nvSpPr>
        <p:spPr>
          <a:xfrm>
            <a:off x="0" y="0"/>
            <a:ext cx="12192000" cy="687669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8" name="Rectangle 27"/>
          <p:cNvSpPr/>
          <p:nvPr userDrawn="1"/>
        </p:nvSpPr>
        <p:spPr>
          <a:xfrm>
            <a:off x="91440" y="91440"/>
            <a:ext cx="11978640" cy="6675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7" name="Picture 2" descr="D:\plc\slide in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 bwMode="auto">
          <a:xfrm>
            <a:off x="-19051" y="6781800"/>
            <a:ext cx="12211051" cy="76200"/>
          </a:xfrm>
          <a:prstGeom prst="rect">
            <a:avLst/>
          </a:prstGeom>
          <a:noFill/>
        </p:spPr>
      </p:pic>
      <p:cxnSp>
        <p:nvCxnSpPr>
          <p:cNvPr id="4" name="Straight Connector 3"/>
          <p:cNvCxnSpPr>
            <a:cxnSpLocks/>
          </p:cNvCxnSpPr>
          <p:nvPr userDrawn="1"/>
        </p:nvCxnSpPr>
        <p:spPr>
          <a:xfrm>
            <a:off x="1730145" y="959528"/>
            <a:ext cx="85008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54050054"/>
              </p:ext>
            </p:extLst>
          </p:nvPr>
        </p:nvGraphicFramePr>
        <p:xfrm>
          <a:off x="1110344" y="1135798"/>
          <a:ext cx="9120663" cy="155901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53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6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Document Title:  </a:t>
                      </a:r>
                      <a:endParaRPr lang="en-GB" sz="16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6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Document Version:</a:t>
                      </a:r>
                      <a:endParaRPr lang="en-GB" sz="16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6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Document Status:</a:t>
                      </a:r>
                      <a:endParaRPr lang="en-GB" sz="16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9385072"/>
              </p:ext>
            </p:extLst>
          </p:nvPr>
        </p:nvGraphicFramePr>
        <p:xfrm>
          <a:off x="1110344" y="2895601"/>
          <a:ext cx="9120662" cy="34420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32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3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2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8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Name: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Signature: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Role: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Date: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212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Prepared by:</a:t>
                      </a: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 </a:t>
                      </a: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 </a:t>
                      </a: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 </a:t>
                      </a: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212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Approved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 by:</a:t>
                      </a: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 userDrawn="1"/>
        </p:nvSpPr>
        <p:spPr bwMode="auto">
          <a:xfrm>
            <a:off x="1905000" y="304800"/>
            <a:ext cx="358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2673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2673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2673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2673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2673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2673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2673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2673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2673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5267325" algn="r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Times New Roman" panose="02020603050405020304" pitchFamily="18" charset="0"/>
                <a:cs typeface="Arial" panose="020B0604020202020204" pitchFamily="34" charset="0"/>
              </a:rPr>
              <a:t>Document Authorization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5267325" algn="r"/>
              </a:tabLst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457991" y="3534983"/>
            <a:ext cx="2547261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57991" y="5070565"/>
            <a:ext cx="2547261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722540" y="3534983"/>
            <a:ext cx="2029574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722540" y="5070565"/>
            <a:ext cx="2029574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8856923" y="3534983"/>
            <a:ext cx="1295400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8856923" y="5070565"/>
            <a:ext cx="1295400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667940" y="1135797"/>
            <a:ext cx="6563067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3667940" y="1655140"/>
            <a:ext cx="6563067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3667940" y="2174483"/>
            <a:ext cx="6563067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5" name="Date Placeholder 6"/>
          <p:cNvSpPr>
            <a:spLocks noGrp="1"/>
          </p:cNvSpPr>
          <p:nvPr>
            <p:ph type="dt" sz="half" idx="2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58DD2A-2A8E-4347-A35A-9969DDD0561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2/7/26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6" name="Footer Placeholder 7"/>
          <p:cNvSpPr>
            <a:spLocks noGrp="1"/>
          </p:cNvSpPr>
          <p:nvPr>
            <p:ph type="ftr" sz="quarter" idx="2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3CDBC35E-4432-480B-B107-EE013F4C6CD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231007" y="1038026"/>
            <a:ext cx="1706217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7C2E56-089A-4EEA-893F-076C96238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2" name="Picture 1" descr="Pos Logistics Berhad Company Overview &amp; Details - Maukerja">
            <a:extLst>
              <a:ext uri="{FF2B5EF4-FFF2-40B4-BE49-F238E27FC236}">
                <a16:creationId xmlns:a16="http://schemas.microsoft.com/office/drawing/2014/main" id="{A05CD20F-4F8A-A27D-3BA7-0A4733EF2C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54" y="136525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378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0"/>
            <a:ext cx="12192000" cy="687669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3" name="Rectangle 22"/>
          <p:cNvSpPr/>
          <p:nvPr userDrawn="1"/>
        </p:nvSpPr>
        <p:spPr>
          <a:xfrm>
            <a:off x="91440" y="91440"/>
            <a:ext cx="11978640" cy="6675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7" name="Picture 2" descr="D:\plc\slide in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 bwMode="auto">
          <a:xfrm>
            <a:off x="-19051" y="6781800"/>
            <a:ext cx="12211051" cy="76200"/>
          </a:xfrm>
          <a:prstGeom prst="rect">
            <a:avLst/>
          </a:prstGeom>
          <a:noFill/>
        </p:spPr>
      </p:pic>
      <p:graphicFrame>
        <p:nvGraphicFramePr>
          <p:cNvPr id="6" name="Table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4339001"/>
              </p:ext>
            </p:extLst>
          </p:nvPr>
        </p:nvGraphicFramePr>
        <p:xfrm>
          <a:off x="1905000" y="2677066"/>
          <a:ext cx="9067800" cy="19050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72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SECRET or RAHSIA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GB" sz="14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CONFIDENTIAL or SULIT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GB" sz="14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INTERNAL USE or UNTUK DALAMAN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4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OPEN or TERBUKA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GB" sz="14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 userDrawn="1"/>
        </p:nvSpPr>
        <p:spPr>
          <a:xfrm>
            <a:off x="1730145" y="1941929"/>
            <a:ext cx="3057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5267325" algn="r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Document Classification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8633055" y="2655805"/>
            <a:ext cx="2339745" cy="478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8633055" y="3154707"/>
            <a:ext cx="2339745" cy="478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8633055" y="3612726"/>
            <a:ext cx="2339745" cy="478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8633055" y="4071472"/>
            <a:ext cx="2339745" cy="478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1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460D9E-C2B4-4D67-9F53-2C56C026F3F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2/7/26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2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98925A-B02C-2049-6B41-B7B59F47B6A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92509366"/>
              </p:ext>
            </p:extLst>
          </p:nvPr>
        </p:nvGraphicFramePr>
        <p:xfrm>
          <a:off x="270510" y="230474"/>
          <a:ext cx="11620500" cy="1112520"/>
        </p:xfrm>
        <a:graphic>
          <a:graphicData uri="http://schemas.openxmlformats.org/drawingml/2006/table">
            <a:tbl>
              <a:tblPr firstRow="1" bandRow="1"/>
              <a:tblGrid>
                <a:gridCol w="2324100">
                  <a:extLst>
                    <a:ext uri="{9D8B030D-6E8A-4147-A177-3AD203B41FA5}">
                      <a16:colId xmlns:a16="http://schemas.microsoft.com/office/drawing/2014/main" val="15207289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46911254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51874625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67417324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263982769"/>
                    </a:ext>
                  </a:extLst>
                </a:gridCol>
              </a:tblGrid>
              <a:tr h="37084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Approved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by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Effective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Date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Classification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Control Status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6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381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Internal</a:t>
                      </a:r>
                      <a:r>
                        <a:rPr lang="en-US" sz="1200" b="0" baseline="0" dirty="0">
                          <a:latin typeface="Trebuchet MS" panose="020B0603020202020204" pitchFamily="34" charset="0"/>
                        </a:rPr>
                        <a:t> Use</a:t>
                      </a:r>
                      <a:endParaRPr lang="en-US" sz="1200" b="0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Controlled Copy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4033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Document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Title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443308"/>
                  </a:ext>
                </a:extLst>
              </a:tr>
            </a:tbl>
          </a:graphicData>
        </a:graphic>
      </p:graphicFrame>
      <p:pic>
        <p:nvPicPr>
          <p:cNvPr id="5" name="Picture 4" descr="Pos Logistics Berhad Company Overview &amp; Details - Maukerja">
            <a:extLst>
              <a:ext uri="{FF2B5EF4-FFF2-40B4-BE49-F238E27FC236}">
                <a16:creationId xmlns:a16="http://schemas.microsoft.com/office/drawing/2014/main" id="{528631F4-797D-A518-473D-969F8E89A0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81" y="439040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398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>
            <a:spLocks noChangeAspect="1"/>
          </p:cNvSpPr>
          <p:nvPr userDrawn="1"/>
        </p:nvSpPr>
        <p:spPr>
          <a:xfrm>
            <a:off x="0" y="0"/>
            <a:ext cx="12192000" cy="687669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43" name="Rectangle 42"/>
          <p:cNvSpPr/>
          <p:nvPr userDrawn="1"/>
        </p:nvSpPr>
        <p:spPr>
          <a:xfrm>
            <a:off x="91440" y="91440"/>
            <a:ext cx="11978640" cy="6675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7" name="Picture 2" descr="D:\plc\slide in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 bwMode="auto">
          <a:xfrm>
            <a:off x="-19051" y="6781800"/>
            <a:ext cx="12211051" cy="762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 userDrawn="1"/>
        </p:nvSpPr>
        <p:spPr>
          <a:xfrm>
            <a:off x="1635408" y="1640902"/>
            <a:ext cx="34163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5267325" algn="r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Document Revision History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57433614"/>
              </p:ext>
            </p:extLst>
          </p:nvPr>
        </p:nvGraphicFramePr>
        <p:xfrm>
          <a:off x="1730145" y="2209742"/>
          <a:ext cx="9067799" cy="302793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858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4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0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Revision Number: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Revision Date: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Summary of Changes: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Revised by: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3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  <a:effectLst/>
                          <a:latin typeface="Trebuchet MS" panose="020B0603020202020204" pitchFamily="34" charset="0"/>
                        </a:rPr>
                        <a:t> </a:t>
                      </a:r>
                      <a:endParaRPr lang="en-GB" sz="1200" dirty="0">
                        <a:solidFill>
                          <a:sysClr val="windowText" lastClr="000000"/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1730145" y="2796210"/>
            <a:ext cx="185125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730145" y="3287198"/>
            <a:ext cx="185125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1730145" y="3778186"/>
            <a:ext cx="185125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730145" y="4269174"/>
            <a:ext cx="185125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1730145" y="4741024"/>
            <a:ext cx="185125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7" hasCustomPrompt="1"/>
          </p:nvPr>
        </p:nvSpPr>
        <p:spPr>
          <a:xfrm>
            <a:off x="4876800" y="2787574"/>
            <a:ext cx="3200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3278562"/>
            <a:ext cx="3200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4876800" y="3769550"/>
            <a:ext cx="3200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4260538"/>
            <a:ext cx="3200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4732388"/>
            <a:ext cx="3200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8077200" y="2802820"/>
            <a:ext cx="272074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8077200" y="3293808"/>
            <a:ext cx="272074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8077200" y="3784796"/>
            <a:ext cx="272074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8077200" y="4275784"/>
            <a:ext cx="272074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8077200" y="4747634"/>
            <a:ext cx="2720745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7" hasCustomPrompt="1"/>
          </p:nvPr>
        </p:nvSpPr>
        <p:spPr>
          <a:xfrm>
            <a:off x="3581401" y="2772328"/>
            <a:ext cx="1295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8" hasCustomPrompt="1"/>
          </p:nvPr>
        </p:nvSpPr>
        <p:spPr>
          <a:xfrm>
            <a:off x="3581401" y="3263316"/>
            <a:ext cx="1295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3581401" y="3754304"/>
            <a:ext cx="1295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3581401" y="4245292"/>
            <a:ext cx="1295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3581401" y="4717142"/>
            <a:ext cx="1295400" cy="478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Third level</a:t>
            </a:r>
          </a:p>
        </p:txBody>
      </p:sp>
      <p:sp>
        <p:nvSpPr>
          <p:cNvPr id="3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CF911C-0300-4E89-8BDE-7579915E96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2/7/26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D9914B-B03A-CC4E-03BE-FB5A5153561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92509366"/>
              </p:ext>
            </p:extLst>
          </p:nvPr>
        </p:nvGraphicFramePr>
        <p:xfrm>
          <a:off x="270510" y="230474"/>
          <a:ext cx="11620500" cy="1112520"/>
        </p:xfrm>
        <a:graphic>
          <a:graphicData uri="http://schemas.openxmlformats.org/drawingml/2006/table">
            <a:tbl>
              <a:tblPr firstRow="1" bandRow="1"/>
              <a:tblGrid>
                <a:gridCol w="2324100">
                  <a:extLst>
                    <a:ext uri="{9D8B030D-6E8A-4147-A177-3AD203B41FA5}">
                      <a16:colId xmlns:a16="http://schemas.microsoft.com/office/drawing/2014/main" val="15207289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46911254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51874625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67417324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263982769"/>
                    </a:ext>
                  </a:extLst>
                </a:gridCol>
              </a:tblGrid>
              <a:tr h="37084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Approved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by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Effective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Date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Classification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Control Status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6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381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Internal</a:t>
                      </a:r>
                      <a:r>
                        <a:rPr lang="en-US" sz="1200" b="0" baseline="0" dirty="0">
                          <a:latin typeface="Trebuchet MS" panose="020B0603020202020204" pitchFamily="34" charset="0"/>
                        </a:rPr>
                        <a:t> Use</a:t>
                      </a:r>
                      <a:endParaRPr lang="en-US" sz="1200" b="0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Controlled Copy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4033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Document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Title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443308"/>
                  </a:ext>
                </a:extLst>
              </a:tr>
            </a:tbl>
          </a:graphicData>
        </a:graphic>
      </p:graphicFrame>
      <p:pic>
        <p:nvPicPr>
          <p:cNvPr id="4" name="Picture 3" descr="Pos Logistics Berhad Company Overview &amp; Details - Maukerja">
            <a:extLst>
              <a:ext uri="{FF2B5EF4-FFF2-40B4-BE49-F238E27FC236}">
                <a16:creationId xmlns:a16="http://schemas.microsoft.com/office/drawing/2014/main" id="{02D42E7D-ED6B-5D7D-04F6-B76385B265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81" y="439040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0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0" y="0"/>
            <a:ext cx="12192000" cy="687669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8" name="Rectangle 7"/>
          <p:cNvSpPr/>
          <p:nvPr userDrawn="1"/>
        </p:nvSpPr>
        <p:spPr>
          <a:xfrm>
            <a:off x="106680" y="100785"/>
            <a:ext cx="11978640" cy="6675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9F9CD0-AB6C-45B2-A671-AEFD73B38EC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2/7/26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1AC23B-09B7-1126-2F43-5B1B1AD3424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92509366"/>
              </p:ext>
            </p:extLst>
          </p:nvPr>
        </p:nvGraphicFramePr>
        <p:xfrm>
          <a:off x="270510" y="230474"/>
          <a:ext cx="11620500" cy="1112520"/>
        </p:xfrm>
        <a:graphic>
          <a:graphicData uri="http://schemas.openxmlformats.org/drawingml/2006/table">
            <a:tbl>
              <a:tblPr firstRow="1" bandRow="1"/>
              <a:tblGrid>
                <a:gridCol w="2324100">
                  <a:extLst>
                    <a:ext uri="{9D8B030D-6E8A-4147-A177-3AD203B41FA5}">
                      <a16:colId xmlns:a16="http://schemas.microsoft.com/office/drawing/2014/main" val="15207289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46911254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51874625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67417324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263982769"/>
                    </a:ext>
                  </a:extLst>
                </a:gridCol>
              </a:tblGrid>
              <a:tr h="37084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Approved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by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Effective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Date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Classification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Control Status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6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381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Internal</a:t>
                      </a:r>
                      <a:r>
                        <a:rPr lang="en-US" sz="1200" b="0" baseline="0" dirty="0">
                          <a:latin typeface="Trebuchet MS" panose="020B0603020202020204" pitchFamily="34" charset="0"/>
                        </a:rPr>
                        <a:t> Use</a:t>
                      </a:r>
                      <a:endParaRPr lang="en-US" sz="1200" b="0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Controlled Copy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4033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Document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Title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443308"/>
                  </a:ext>
                </a:extLst>
              </a:tr>
            </a:tbl>
          </a:graphicData>
        </a:graphic>
      </p:graphicFrame>
      <p:pic>
        <p:nvPicPr>
          <p:cNvPr id="5" name="Picture 4" descr="Pos Logistics Berhad Company Overview &amp; Details - Maukerja">
            <a:extLst>
              <a:ext uri="{FF2B5EF4-FFF2-40B4-BE49-F238E27FC236}">
                <a16:creationId xmlns:a16="http://schemas.microsoft.com/office/drawing/2014/main" id="{44DCC2CA-6DB0-89A1-AF5F-595985DF5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81" y="439040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733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629D5C-E345-448E-9010-07C0C734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8574" y="6406876"/>
            <a:ext cx="1706217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7C2E56-089A-4EEA-893F-076C96238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57575-86D0-496A-BD98-ED1E6B3D7773}"/>
              </a:ext>
            </a:extLst>
          </p:cNvPr>
          <p:cNvSpPr txBox="1"/>
          <p:nvPr userDrawn="1"/>
        </p:nvSpPr>
        <p:spPr>
          <a:xfrm>
            <a:off x="646743" y="1640273"/>
            <a:ext cx="1688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SUPPLIERS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68B6A-C7A3-4DB3-95D6-608A6FA83D2E}"/>
              </a:ext>
            </a:extLst>
          </p:cNvPr>
          <p:cNvSpPr txBox="1"/>
          <p:nvPr userDrawn="1"/>
        </p:nvSpPr>
        <p:spPr>
          <a:xfrm>
            <a:off x="2857457" y="1640273"/>
            <a:ext cx="1546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INPUTS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9C6FC-28D2-4052-9F1C-5CC640E92891}"/>
              </a:ext>
            </a:extLst>
          </p:cNvPr>
          <p:cNvSpPr txBox="1"/>
          <p:nvPr userDrawn="1"/>
        </p:nvSpPr>
        <p:spPr>
          <a:xfrm>
            <a:off x="5068171" y="1640273"/>
            <a:ext cx="1546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66633-D345-4D67-9234-74F1225E0D5B}"/>
              </a:ext>
            </a:extLst>
          </p:cNvPr>
          <p:cNvSpPr txBox="1"/>
          <p:nvPr userDrawn="1"/>
        </p:nvSpPr>
        <p:spPr>
          <a:xfrm>
            <a:off x="7278885" y="1640273"/>
            <a:ext cx="1546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8C226-D87F-434A-AE71-299BCE790509}"/>
              </a:ext>
            </a:extLst>
          </p:cNvPr>
          <p:cNvSpPr txBox="1"/>
          <p:nvPr userDrawn="1"/>
        </p:nvSpPr>
        <p:spPr>
          <a:xfrm>
            <a:off x="9767146" y="1625814"/>
            <a:ext cx="1810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CUSTOMERS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30971D-2840-4B77-A295-BF6847781B04}"/>
              </a:ext>
            </a:extLst>
          </p:cNvPr>
          <p:cNvCxnSpPr/>
          <p:nvPr userDrawn="1"/>
        </p:nvCxnSpPr>
        <p:spPr>
          <a:xfrm>
            <a:off x="5804232" y="2457075"/>
            <a:ext cx="0" cy="1905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A0E506-27B6-3259-7D2C-27F3C7D4010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92509366"/>
              </p:ext>
            </p:extLst>
          </p:nvPr>
        </p:nvGraphicFramePr>
        <p:xfrm>
          <a:off x="270510" y="230474"/>
          <a:ext cx="11620500" cy="1112520"/>
        </p:xfrm>
        <a:graphic>
          <a:graphicData uri="http://schemas.openxmlformats.org/drawingml/2006/table">
            <a:tbl>
              <a:tblPr firstRow="1" bandRow="1"/>
              <a:tblGrid>
                <a:gridCol w="2324100">
                  <a:extLst>
                    <a:ext uri="{9D8B030D-6E8A-4147-A177-3AD203B41FA5}">
                      <a16:colId xmlns:a16="http://schemas.microsoft.com/office/drawing/2014/main" val="15207289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46911254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51874625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67417324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263982769"/>
                    </a:ext>
                  </a:extLst>
                </a:gridCol>
              </a:tblGrid>
              <a:tr h="37084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Approved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by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Effective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Date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Classification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Control Status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6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381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Internal</a:t>
                      </a:r>
                      <a:r>
                        <a:rPr lang="en-US" sz="1200" b="0" baseline="0" dirty="0">
                          <a:latin typeface="Trebuchet MS" panose="020B0603020202020204" pitchFamily="34" charset="0"/>
                        </a:rPr>
                        <a:t> Use</a:t>
                      </a:r>
                      <a:endParaRPr lang="en-US" sz="1200" b="0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Controlled Copy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4033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Document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Title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443308"/>
                  </a:ext>
                </a:extLst>
              </a:tr>
            </a:tbl>
          </a:graphicData>
        </a:graphic>
      </p:graphicFrame>
      <p:pic>
        <p:nvPicPr>
          <p:cNvPr id="3" name="Picture 2" descr="Pos Logistics Berhad Company Overview &amp; Details - Maukerja">
            <a:extLst>
              <a:ext uri="{FF2B5EF4-FFF2-40B4-BE49-F238E27FC236}">
                <a16:creationId xmlns:a16="http://schemas.microsoft.com/office/drawing/2014/main" id="{8D8C57EE-F8EB-EB79-C1B8-4326E4DCFE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81" y="439040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745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DDAD3B7-2980-48E1-A242-18F05FA62A89}"/>
              </a:ext>
            </a:extLst>
          </p:cNvPr>
          <p:cNvGrpSpPr/>
          <p:nvPr userDrawn="1"/>
        </p:nvGrpSpPr>
        <p:grpSpPr>
          <a:xfrm>
            <a:off x="9627617" y="1553319"/>
            <a:ext cx="2563868" cy="1144370"/>
            <a:chOff x="8883631" y="1322802"/>
            <a:chExt cx="3168002" cy="166687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9DFC96B-A912-4E91-84C0-0423E97C9088}"/>
                </a:ext>
              </a:extLst>
            </p:cNvPr>
            <p:cNvSpPr/>
            <p:nvPr userDrawn="1"/>
          </p:nvSpPr>
          <p:spPr>
            <a:xfrm>
              <a:off x="9772650" y="1847850"/>
              <a:ext cx="1200150" cy="619125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MY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Function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7A03214-838E-4572-A247-C64A7930E98A}"/>
                </a:ext>
              </a:extLst>
            </p:cNvPr>
            <p:cNvCxnSpPr/>
            <p:nvPr userDrawn="1"/>
          </p:nvCxnSpPr>
          <p:spPr>
            <a:xfrm>
              <a:off x="9989958" y="1371600"/>
              <a:ext cx="0" cy="4857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D5864D2-68A9-42D6-98AE-7CB349A42D81}"/>
                </a:ext>
              </a:extLst>
            </p:cNvPr>
            <p:cNvCxnSpPr>
              <a:cxnSpLocks/>
              <a:stCxn id="14" idx="3"/>
            </p:cNvCxnSpPr>
            <p:nvPr userDrawn="1"/>
          </p:nvCxnSpPr>
          <p:spPr>
            <a:xfrm>
              <a:off x="10972800" y="2157413"/>
              <a:ext cx="60089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D310C60-F0EF-498F-9AD2-1ED31B9EA4C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828348" y="2466975"/>
              <a:ext cx="0" cy="4857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53518B9-EE49-47B4-AFE5-DBEB54DE4B6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171758" y="2157412"/>
              <a:ext cx="60089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B00238B-B906-4280-B671-F1C300F5A167}"/>
                </a:ext>
              </a:extLst>
            </p:cNvPr>
            <p:cNvSpPr txBox="1"/>
            <p:nvPr userDrawn="1"/>
          </p:nvSpPr>
          <p:spPr>
            <a:xfrm>
              <a:off x="9973818" y="1437842"/>
              <a:ext cx="1052510" cy="403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MY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Controls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C14D44F-A4E2-4F8E-91B6-7DB1D49A03F6}"/>
                </a:ext>
              </a:extLst>
            </p:cNvPr>
            <p:cNvSpPr txBox="1"/>
            <p:nvPr userDrawn="1"/>
          </p:nvSpPr>
          <p:spPr>
            <a:xfrm>
              <a:off x="8953500" y="1767422"/>
              <a:ext cx="819150" cy="403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MY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Input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7E12360-8867-4EB8-92CD-D1A53B6D8E3E}"/>
                </a:ext>
              </a:extLst>
            </p:cNvPr>
            <p:cNvSpPr txBox="1"/>
            <p:nvPr userDrawn="1"/>
          </p:nvSpPr>
          <p:spPr>
            <a:xfrm>
              <a:off x="9734407" y="2473321"/>
              <a:ext cx="1200149" cy="403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MY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Resources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947B80-14AC-47A8-8A89-B7737EB30AD2}"/>
                </a:ext>
              </a:extLst>
            </p:cNvPr>
            <p:cNvSpPr txBox="1"/>
            <p:nvPr userDrawn="1"/>
          </p:nvSpPr>
          <p:spPr>
            <a:xfrm>
              <a:off x="10999120" y="1765262"/>
              <a:ext cx="1052513" cy="403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MY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Output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A689DFF-6C6A-4E08-8E8C-037237CF263A}"/>
                </a:ext>
              </a:extLst>
            </p:cNvPr>
            <p:cNvSpPr/>
            <p:nvPr userDrawn="1"/>
          </p:nvSpPr>
          <p:spPr>
            <a:xfrm>
              <a:off x="8883631" y="1322802"/>
              <a:ext cx="2992704" cy="166687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520CE387-5120-48E3-9EF2-BC25AE86146F}"/>
              </a:ext>
            </a:extLst>
          </p:cNvPr>
          <p:cNvSpPr txBox="1">
            <a:spLocks/>
          </p:cNvSpPr>
          <p:nvPr userDrawn="1"/>
        </p:nvSpPr>
        <p:spPr>
          <a:xfrm>
            <a:off x="10348574" y="6406876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F7C2E56-089A-4EEA-893F-076C96238506}" type="slidenum">
              <a:rPr lang="en-US" smtClean="0">
                <a:solidFill>
                  <a:srgbClr val="A6B727"/>
                </a:solidFill>
                <a:latin typeface="Calibri Light"/>
              </a:rPr>
              <a:pPr>
                <a:defRPr/>
              </a:pPr>
              <a:t>‹#›</a:t>
            </a:fld>
            <a:endParaRPr lang="en-US" dirty="0">
              <a:solidFill>
                <a:srgbClr val="A6B727"/>
              </a:solidFill>
              <a:latin typeface="Calibri Ligh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D4AEA6-581A-4BAD-5417-444232E14BF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92509366"/>
              </p:ext>
            </p:extLst>
          </p:nvPr>
        </p:nvGraphicFramePr>
        <p:xfrm>
          <a:off x="270510" y="230474"/>
          <a:ext cx="11620500" cy="1112520"/>
        </p:xfrm>
        <a:graphic>
          <a:graphicData uri="http://schemas.openxmlformats.org/drawingml/2006/table">
            <a:tbl>
              <a:tblPr firstRow="1" bandRow="1"/>
              <a:tblGrid>
                <a:gridCol w="2324100">
                  <a:extLst>
                    <a:ext uri="{9D8B030D-6E8A-4147-A177-3AD203B41FA5}">
                      <a16:colId xmlns:a16="http://schemas.microsoft.com/office/drawing/2014/main" val="15207289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46911254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51874625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67417324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263982769"/>
                    </a:ext>
                  </a:extLst>
                </a:gridCol>
              </a:tblGrid>
              <a:tr h="37084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Approved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by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Effective</a:t>
                      </a:r>
                      <a:r>
                        <a:rPr lang="en-US" sz="1200" b="1" baseline="0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 Date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Classification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rebuchet MS" panose="020B0603020202020204" pitchFamily="34" charset="0"/>
                        </a:rPr>
                        <a:t>Control Status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6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381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Internal</a:t>
                      </a:r>
                      <a:r>
                        <a:rPr lang="en-US" sz="1200" b="0" baseline="0" dirty="0">
                          <a:latin typeface="Trebuchet MS" panose="020B0603020202020204" pitchFamily="34" charset="0"/>
                        </a:rPr>
                        <a:t> Use</a:t>
                      </a:r>
                      <a:endParaRPr lang="en-US" sz="1200" b="0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b="0" dirty="0">
                          <a:latin typeface="Trebuchet MS" panose="020B0603020202020204" pitchFamily="34" charset="0"/>
                        </a:rPr>
                        <a:t>Controlled Copy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4033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Document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Title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443308"/>
                  </a:ext>
                </a:extLst>
              </a:tr>
            </a:tbl>
          </a:graphicData>
        </a:graphic>
      </p:graphicFrame>
      <p:pic>
        <p:nvPicPr>
          <p:cNvPr id="3" name="Picture 2" descr="Pos Logistics Berhad Company Overview &amp; Details - Maukerja">
            <a:extLst>
              <a:ext uri="{FF2B5EF4-FFF2-40B4-BE49-F238E27FC236}">
                <a16:creationId xmlns:a16="http://schemas.microsoft.com/office/drawing/2014/main" id="{0443C5B4-8389-FE48-C205-17606DF1B3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81" y="439040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25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plc\slide in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 bwMode="auto">
          <a:xfrm>
            <a:off x="-19050" y="6781800"/>
            <a:ext cx="12211051" cy="76200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5C4F46-F0C4-1A34-2166-868BD0A2BDC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06737020"/>
              </p:ext>
            </p:extLst>
          </p:nvPr>
        </p:nvGraphicFramePr>
        <p:xfrm>
          <a:off x="931" y="-8822"/>
          <a:ext cx="12191071" cy="1036320"/>
        </p:xfrm>
        <a:graphic>
          <a:graphicData uri="http://schemas.openxmlformats.org/drawingml/2006/table">
            <a:tbl>
              <a:tblPr firstCol="1" bandRow="1"/>
              <a:tblGrid>
                <a:gridCol w="159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2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l"/>
                      <a:endParaRPr lang="en-GB" sz="1400" dirty="0">
                        <a:latin typeface="Trebuchet MS" panose="020B0603020202020204" pitchFamily="34" charset="0"/>
                      </a:endParaRPr>
                    </a:p>
                  </a:txBody>
                  <a:tcPr marL="91416" marR="91416" marT="45714" marB="45714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16" marR="91416" marT="45714" marB="45714"/>
                </a:tc>
                <a:extLst>
                  <a:ext uri="{0D108BD9-81ED-4DB2-BD59-A6C34878D82A}">
                    <a16:rowId xmlns:a16="http://schemas.microsoft.com/office/drawing/2014/main" val="1394883968"/>
                  </a:ext>
                </a:extLst>
              </a:tr>
              <a:tr h="3454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l"/>
                      <a:r>
                        <a:rPr lang="en-US" sz="1200" dirty="0">
                          <a:latin typeface="Trebuchet MS" panose="020B0603020202020204" pitchFamily="34" charset="0"/>
                        </a:rPr>
                        <a:t>Process</a:t>
                      </a:r>
                      <a:r>
                        <a:rPr lang="en-US" sz="1200" baseline="0" dirty="0">
                          <a:latin typeface="Trebuchet MS" panose="020B0603020202020204" pitchFamily="34" charset="0"/>
                        </a:rPr>
                        <a:t> Time</a:t>
                      </a:r>
                      <a:endParaRPr lang="en-GB" sz="1200" dirty="0">
                        <a:latin typeface="Trebuchet MS" panose="020B0603020202020204" pitchFamily="34" charset="0"/>
                      </a:endParaRPr>
                    </a:p>
                  </a:txBody>
                  <a:tcPr marL="91416" marR="91416" marT="45714" marB="45714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l"/>
                      <a:endParaRPr lang="en-GB" sz="1400" dirty="0"/>
                    </a:p>
                  </a:txBody>
                  <a:tcPr marL="91416" marR="91416" marT="45714" marB="4571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rebuchet MS" panose="020B0603020202020204" pitchFamily="34" charset="0"/>
                        </a:rPr>
                        <a:t>Lead</a:t>
                      </a:r>
                      <a:r>
                        <a:rPr lang="en-US" sz="1200" baseline="0" dirty="0">
                          <a:latin typeface="Trebuchet MS" panose="020B0603020202020204" pitchFamily="34" charset="0"/>
                        </a:rPr>
                        <a:t> Time</a:t>
                      </a:r>
                      <a:endParaRPr lang="en-GB" sz="1200" dirty="0">
                        <a:latin typeface="Trebuchet MS" panose="020B0603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1416" marR="91416" marT="45714" marB="45714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l"/>
                      <a:endParaRPr lang="en-GB" sz="1400" dirty="0"/>
                    </a:p>
                  </a:txBody>
                  <a:tcPr marL="91416" marR="91416" marT="45714" marB="4571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309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936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82CBA7-F174-4625-BCA6-27DE9C5F53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C13DD4-2CF6-467B-8595-9E0F04B43283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2/7/26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7C2E56-089A-4EEA-893F-076C96238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870DCD-3964-4E37-91B7-E4B56C8223BE}"/>
              </a:ext>
            </a:extLst>
          </p:cNvPr>
          <p:cNvSpPr/>
          <p:nvPr userDrawn="1"/>
        </p:nvSpPr>
        <p:spPr>
          <a:xfrm>
            <a:off x="69273" y="90055"/>
            <a:ext cx="12053454" cy="669867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34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381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alphaModFix amt="15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457200"/>
            <a:endParaRPr lang="en-GB" sz="1800" dirty="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10585828" y="609600"/>
            <a:ext cx="1602997" cy="13681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457200"/>
            <a:endParaRPr lang="en-GB" sz="18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2" y="2336873"/>
            <a:ext cx="9613861" cy="35993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117CA-39D6-4DF5-A777-B6690300B4DC}"/>
              </a:ext>
            </a:extLst>
          </p:cNvPr>
          <p:cNvSpPr/>
          <p:nvPr userDrawn="1"/>
        </p:nvSpPr>
        <p:spPr>
          <a:xfrm>
            <a:off x="10555696" y="609600"/>
            <a:ext cx="1633129" cy="1360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38100" dir="8100000" algn="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 dirty="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B0305-9659-484C-A695-9A5274F779D2}"/>
              </a:ext>
            </a:extLst>
          </p:cNvPr>
          <p:cNvSpPr txBox="1"/>
          <p:nvPr userDrawn="1"/>
        </p:nvSpPr>
        <p:spPr>
          <a:xfrm>
            <a:off x="11513197" y="6479959"/>
            <a:ext cx="678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3EB6931-75CA-4DBB-A5A9-36EC7D2BD89D}" type="slidenum">
              <a:rPr lang="en-GB" sz="1800" smtClean="0"/>
              <a:t>‹#›</a:t>
            </a:fld>
            <a:endParaRPr lang="en-GB" sz="1800" dirty="0"/>
          </a:p>
        </p:txBody>
      </p:sp>
      <p:pic>
        <p:nvPicPr>
          <p:cNvPr id="8" name="Picture 7" descr="Pos Logistics Berhad Company Overview &amp; Details - Maukerja">
            <a:extLst>
              <a:ext uri="{FF2B5EF4-FFF2-40B4-BE49-F238E27FC236}">
                <a16:creationId xmlns:a16="http://schemas.microsoft.com/office/drawing/2014/main" id="{319759CE-9E6B-483E-8A31-9463CEDAE1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302" y="1116073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70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24023" y="681101"/>
            <a:ext cx="7743952" cy="1190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654" y="2244153"/>
            <a:ext cx="7568691" cy="17805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786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CCC167-D828-45F3-93B8-E868657B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02911-1C18-4319-B9F6-AD015CA35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F646E-41A7-45E1-B14C-6CE06047A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16263-66E7-4794-BD22-92E88D4BE400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6A4F3-9F18-4F82-ACA7-FC9452350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33A24-7881-4C36-B9D6-FAEE86BAA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02C40-A216-4022-A4A1-DAD95010D4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93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4FD1ABB-648E-C879-55C4-81C718C3D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29" y="0"/>
            <a:ext cx="935952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1" y="0"/>
            <a:ext cx="7249886" cy="6858000"/>
          </a:xfrm>
          <a:custGeom>
            <a:avLst/>
            <a:gdLst/>
            <a:ahLst/>
            <a:cxnLst/>
            <a:rect l="l" t="t" r="r" b="b"/>
            <a:pathLst>
              <a:path w="7534275" h="6858000">
                <a:moveTo>
                  <a:pt x="7534275" y="0"/>
                </a:moveTo>
                <a:lnTo>
                  <a:pt x="0" y="0"/>
                </a:lnTo>
                <a:lnTo>
                  <a:pt x="0" y="6858000"/>
                </a:lnTo>
                <a:lnTo>
                  <a:pt x="7534275" y="6858000"/>
                </a:lnTo>
                <a:lnTo>
                  <a:pt x="753427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0397" y="1470766"/>
            <a:ext cx="6011072" cy="12935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rgbClr val="FFFFFF"/>
            </a:solidFill>
          </a:ln>
        </p:spPr>
        <p:txBody>
          <a:bodyPr vert="horz" wrap="square" lIns="0" tIns="40322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POS LOGISTICS BERHAD</a:t>
            </a:r>
            <a:br>
              <a:rPr lang="en-US" sz="3200" b="1" kern="1200" dirty="0">
                <a:solidFill>
                  <a:prstClr val="black"/>
                </a:solidFill>
                <a:latin typeface="Trebuchet MS" panose="020B0603020202020204" pitchFamily="34" charset="0"/>
                <a:ea typeface="+mn-ea"/>
                <a:cs typeface="+mn-cs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278" y="3696589"/>
            <a:ext cx="5841191" cy="122629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 marR="30480" lvl="0" indent="0" algn="l" defTabSz="914400" rtl="0" eaLnBrk="1" fontAlgn="auto" latinLnBrk="0" hangingPunct="1">
              <a:lnSpc>
                <a:spcPct val="133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000" b="0" i="0" u="none" strike="noStrike" kern="120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Value Chain : General Logistic Solutions</a:t>
            </a:r>
          </a:p>
          <a:p>
            <a:pPr marL="38100" marR="30480" lvl="0" indent="0" algn="l" defTabSz="914400" rtl="0" eaLnBrk="1" fontAlgn="auto" latinLnBrk="0" hangingPunct="1">
              <a:lnSpc>
                <a:spcPct val="133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000" b="0" i="0" u="none" strike="noStrike" kern="120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Department : </a:t>
            </a:r>
          </a:p>
          <a:p>
            <a:pPr marL="38100" marR="30480" lvl="0" indent="0" algn="l" defTabSz="914400" rtl="0" eaLnBrk="1" fontAlgn="auto" latinLnBrk="0" hangingPunct="1">
              <a:lnSpc>
                <a:spcPct val="133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000" b="0" i="0" u="none" strike="noStrike" kern="120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Date 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338ED0-C088-9BA6-984F-8BFB607094D6}"/>
              </a:ext>
            </a:extLst>
          </p:cNvPr>
          <p:cNvSpPr/>
          <p:nvPr/>
        </p:nvSpPr>
        <p:spPr>
          <a:xfrm>
            <a:off x="191925" y="6200282"/>
            <a:ext cx="715041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© 2026 Pos Logistics Berhad. All Rights Reserved. No part of this content may be reproduced in part or in whole, stored in a retrieval system or transmitted in any form or by any means (electronic, mechanical, photocopying, recording or otherwise) without the written permission of the copyright owner.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5" name="Picture 2" descr="Pos Logistics Berhad Company Overview &amp; Details - Maukerja">
            <a:extLst>
              <a:ext uri="{FF2B5EF4-FFF2-40B4-BE49-F238E27FC236}">
                <a16:creationId xmlns:a16="http://schemas.microsoft.com/office/drawing/2014/main" id="{C1ED1607-03A9-393C-4E21-37633F01E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9540" y="261243"/>
            <a:ext cx="1708048" cy="34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AFE3A428-EAF0-34FF-05B2-FE62AB3B3915}"/>
              </a:ext>
            </a:extLst>
          </p:cNvPr>
          <p:cNvSpPr txBox="1"/>
          <p:nvPr/>
        </p:nvSpPr>
        <p:spPr>
          <a:xfrm>
            <a:off x="1189421" y="2974476"/>
            <a:ext cx="4469590" cy="45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 marR="30480" lvl="0" indent="0" algn="ctr" defTabSz="914400" rtl="0" eaLnBrk="1" fontAlgn="auto" latinLnBrk="0" hangingPunct="1">
              <a:lnSpc>
                <a:spcPct val="133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400" b="0" i="0" u="sng" strike="noStrike" kern="1200" cap="none" spc="1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Summary of Findings</a:t>
            </a:r>
            <a:endParaRPr kumimoji="0" sz="2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EBD69E-5A43-FC3F-1E2B-5D839FAE9B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D1935-72ED-587C-9A06-80D22175114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D7647-3385-4A5A-2B36-D22D6F21DD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A27A5-0A24-37AF-9AAE-037DD6AD13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9249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EEAA1E-DD67-F139-BF6B-781D9C91AF7E}"/>
              </a:ext>
            </a:extLst>
          </p:cNvPr>
          <p:cNvSpPr/>
          <p:nvPr/>
        </p:nvSpPr>
        <p:spPr>
          <a:xfrm>
            <a:off x="0" y="223935"/>
            <a:ext cx="9955763" cy="1147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1FF5D-9276-736C-1D1B-469D3954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25" y="485159"/>
            <a:ext cx="8300908" cy="774474"/>
          </a:xfrm>
        </p:spPr>
        <p:txBody>
          <a:bodyPr/>
          <a:lstStyle/>
          <a:p>
            <a:r>
              <a:rPr lang="en-MY" sz="4400" dirty="0">
                <a:solidFill>
                  <a:schemeClr val="bg1"/>
                </a:solidFill>
              </a:rPr>
              <a:t>Key Objective</a:t>
            </a:r>
            <a:br>
              <a:rPr lang="en-MY" sz="2800" dirty="0"/>
            </a:br>
            <a:endParaRPr lang="en-MY" sz="28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EC4E233-8636-4D00-2A45-E4D91FFDC896}"/>
              </a:ext>
            </a:extLst>
          </p:cNvPr>
          <p:cNvSpPr txBox="1">
            <a:spLocks/>
          </p:cNvSpPr>
          <p:nvPr/>
        </p:nvSpPr>
        <p:spPr>
          <a:xfrm>
            <a:off x="273925" y="1520857"/>
            <a:ext cx="995576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252525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400" b="0" i="1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rebuchet MS"/>
                <a:ea typeface="+mj-ea"/>
              </a:rPr>
              <a:t>(One significant reason why your function exists in the value chain)</a:t>
            </a:r>
            <a:endParaRPr kumimoji="0" lang="en-MY" sz="2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rebuchet MS"/>
              <a:ea typeface="+mj-ea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1F302A-61DB-BF9C-E794-583BFF0ADB8F}"/>
              </a:ext>
            </a:extLst>
          </p:cNvPr>
          <p:cNvSpPr txBox="1">
            <a:spLocks/>
          </p:cNvSpPr>
          <p:nvPr/>
        </p:nvSpPr>
        <p:spPr>
          <a:xfrm>
            <a:off x="479198" y="2410376"/>
            <a:ext cx="995576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252525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To xx</a:t>
            </a:r>
            <a:endParaRPr kumimoji="0" lang="en-MY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9733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F59DE-7D3B-083F-710D-748CDCAB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7ABA73-52B9-4F96-998C-10942FE7F6E9}"/>
              </a:ext>
            </a:extLst>
          </p:cNvPr>
          <p:cNvSpPr/>
          <p:nvPr/>
        </p:nvSpPr>
        <p:spPr>
          <a:xfrm>
            <a:off x="0" y="223935"/>
            <a:ext cx="9955763" cy="1147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715A8-4351-0D1F-77AF-DEB93BC6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25" y="485159"/>
            <a:ext cx="8300908" cy="1107996"/>
          </a:xfrm>
        </p:spPr>
        <p:txBody>
          <a:bodyPr/>
          <a:lstStyle/>
          <a:p>
            <a:r>
              <a:rPr lang="en-MY" sz="4400" dirty="0">
                <a:solidFill>
                  <a:schemeClr val="bg1"/>
                </a:solidFill>
              </a:rPr>
              <a:t>Key Result Indicators</a:t>
            </a:r>
            <a:br>
              <a:rPr lang="en-MY" sz="2800" dirty="0"/>
            </a:br>
            <a:endParaRPr lang="en-MY" sz="28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8DA969-041C-D6D8-9284-A229552DC508}"/>
              </a:ext>
            </a:extLst>
          </p:cNvPr>
          <p:cNvSpPr txBox="1">
            <a:spLocks/>
          </p:cNvSpPr>
          <p:nvPr/>
        </p:nvSpPr>
        <p:spPr>
          <a:xfrm>
            <a:off x="273924" y="1520857"/>
            <a:ext cx="10885487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252525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rebuchet MS"/>
                <a:ea typeface="+mj-ea"/>
              </a:rPr>
              <a:t>(5-7 deliverables/outputs expected from your department/unit to meet your key objectives)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B735DA2-B5CD-B605-60BB-F064AFCE6543}"/>
              </a:ext>
            </a:extLst>
          </p:cNvPr>
          <p:cNvSpPr txBox="1">
            <a:spLocks/>
          </p:cNvSpPr>
          <p:nvPr/>
        </p:nvSpPr>
        <p:spPr>
          <a:xfrm>
            <a:off x="619157" y="2578327"/>
            <a:ext cx="995576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252525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j-ea"/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581631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577460-DD76-E91C-7807-DF1D1881B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079280"/>
              </p:ext>
            </p:extLst>
          </p:nvPr>
        </p:nvGraphicFramePr>
        <p:xfrm>
          <a:off x="281857" y="1555408"/>
          <a:ext cx="11634840" cy="50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968">
                  <a:extLst>
                    <a:ext uri="{9D8B030D-6E8A-4147-A177-3AD203B41FA5}">
                      <a16:colId xmlns:a16="http://schemas.microsoft.com/office/drawing/2014/main" val="1533509385"/>
                    </a:ext>
                  </a:extLst>
                </a:gridCol>
                <a:gridCol w="3172543">
                  <a:extLst>
                    <a:ext uri="{9D8B030D-6E8A-4147-A177-3AD203B41FA5}">
                      <a16:colId xmlns:a16="http://schemas.microsoft.com/office/drawing/2014/main" val="1044965961"/>
                    </a:ext>
                  </a:extLst>
                </a:gridCol>
                <a:gridCol w="3106993">
                  <a:extLst>
                    <a:ext uri="{9D8B030D-6E8A-4147-A177-3AD203B41FA5}">
                      <a16:colId xmlns:a16="http://schemas.microsoft.com/office/drawing/2014/main" val="3698436108"/>
                    </a:ext>
                  </a:extLst>
                </a:gridCol>
                <a:gridCol w="3028336">
                  <a:extLst>
                    <a:ext uri="{9D8B030D-6E8A-4147-A177-3AD203B41FA5}">
                      <a16:colId xmlns:a16="http://schemas.microsoft.com/office/drawing/2014/main" val="3180184289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Process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Current findings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Next action plan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Justification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4028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500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721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81696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1">
      <a:dk1>
        <a:sysClr val="windowText" lastClr="000000"/>
      </a:dk1>
      <a:lt1>
        <a:sysClr val="window" lastClr="FFFFFF"/>
      </a:lt1>
      <a:dk2>
        <a:srgbClr val="002060"/>
      </a:dk2>
      <a:lt2>
        <a:srgbClr val="000000"/>
      </a:lt2>
      <a:accent1>
        <a:srgbClr val="43367C"/>
      </a:accent1>
      <a:accent2>
        <a:srgbClr val="A5A5DF"/>
      </a:accent2>
      <a:accent3>
        <a:srgbClr val="A5A5DF"/>
      </a:accent3>
      <a:accent4>
        <a:srgbClr val="A5A5DF"/>
      </a:accent4>
      <a:accent5>
        <a:srgbClr val="A5A5DF"/>
      </a:accent5>
      <a:accent6>
        <a:srgbClr val="A5A5DF"/>
      </a:accent6>
      <a:hlink>
        <a:srgbClr val="A5A5DF"/>
      </a:hlink>
      <a:folHlink>
        <a:srgbClr val="A5A5DF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123</Words>
  <Application>Microsoft Macintosh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Corbel</vt:lpstr>
      <vt:lpstr>Gill Sans MT</vt:lpstr>
      <vt:lpstr>Times New Roman</vt:lpstr>
      <vt:lpstr>Trebuchet MS</vt:lpstr>
      <vt:lpstr>2_Office Theme</vt:lpstr>
      <vt:lpstr>Custom Design</vt:lpstr>
      <vt:lpstr>POS LOGISTICS BERHAD </vt:lpstr>
      <vt:lpstr>PowerPoint Presentation</vt:lpstr>
      <vt:lpstr>Key Objective </vt:lpstr>
      <vt:lpstr>Key Result Indicators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Operational Excellence Academy6</dc:creator>
  <cp:lastModifiedBy>Husni Halim</cp:lastModifiedBy>
  <cp:revision>2</cp:revision>
  <dcterms:created xsi:type="dcterms:W3CDTF">2026-01-28T06:04:42Z</dcterms:created>
  <dcterms:modified xsi:type="dcterms:W3CDTF">2026-02-07T01:32:32Z</dcterms:modified>
</cp:coreProperties>
</file>